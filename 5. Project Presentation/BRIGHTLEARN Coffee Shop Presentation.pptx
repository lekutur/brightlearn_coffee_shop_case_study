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Canva Sans Bold" panose="020B0604020202020204" charset="0"/>
      <p:regular r:id="rId14"/>
    </p:embeddedFont>
    <p:embeddedFont>
      <p:font typeface="Times New Roman Bold" panose="02020803070505020304" pitchFamily="18" charset="0"/>
      <p:regular r:id="rId15"/>
      <p:bold r:id="rId16"/>
    </p:embeddedFont>
    <p:embeddedFont>
      <p:font typeface="Times New Roman Bold Italics" panose="020B0604020202020204" charset="0"/>
      <p:regular r:id="rId17"/>
    </p:embeddedFont>
    <p:embeddedFont>
      <p:font typeface="Times New Roman MT Bold" panose="020B0604020202020204" charset="0"/>
      <p:regular r:id="rId18"/>
    </p:embeddedFont>
    <p:embeddedFont>
      <p:font typeface="Times New Roman MT Bold Italics"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B303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460716"/>
            <a:ext cx="5425984" cy="7826284"/>
            <a:chOff x="0" y="0"/>
            <a:chExt cx="840627" cy="1212496"/>
          </a:xfrm>
        </p:grpSpPr>
        <p:sp>
          <p:nvSpPr>
            <p:cNvPr id="3" name="Freeform 3"/>
            <p:cNvSpPr/>
            <p:nvPr/>
          </p:nvSpPr>
          <p:spPr>
            <a:xfrm>
              <a:off x="0" y="0"/>
              <a:ext cx="840627" cy="1212496"/>
            </a:xfrm>
            <a:custGeom>
              <a:avLst/>
              <a:gdLst/>
              <a:ahLst/>
              <a:cxnLst/>
              <a:rect l="l" t="t" r="r" b="b"/>
              <a:pathLst>
                <a:path w="840627" h="1212496">
                  <a:moveTo>
                    <a:pt x="0" y="0"/>
                  </a:moveTo>
                  <a:lnTo>
                    <a:pt x="840627" y="0"/>
                  </a:lnTo>
                  <a:lnTo>
                    <a:pt x="840627" y="1212496"/>
                  </a:lnTo>
                  <a:lnTo>
                    <a:pt x="0" y="1212496"/>
                  </a:lnTo>
                  <a:close/>
                </a:path>
              </a:pathLst>
            </a:custGeom>
            <a:blipFill>
              <a:blip r:embed="rId2"/>
              <a:stretch>
                <a:fillRect t="-2030" b="-2030"/>
              </a:stretch>
            </a:blipFill>
          </p:spPr>
          <p:txBody>
            <a:bodyPr/>
            <a:lstStyle/>
            <a:p>
              <a:endParaRPr lang="en-ZA"/>
            </a:p>
          </p:txBody>
        </p:sp>
      </p:grpSp>
      <p:sp>
        <p:nvSpPr>
          <p:cNvPr id="4" name="TextBox 4"/>
          <p:cNvSpPr txBox="1"/>
          <p:nvPr/>
        </p:nvSpPr>
        <p:spPr>
          <a:xfrm>
            <a:off x="7467977" y="2555966"/>
            <a:ext cx="9471893" cy="2202930"/>
          </a:xfrm>
          <a:prstGeom prst="rect">
            <a:avLst/>
          </a:prstGeom>
        </p:spPr>
        <p:txBody>
          <a:bodyPr lIns="0" tIns="0" rIns="0" bIns="0" rtlCol="0" anchor="t">
            <a:spAutoFit/>
          </a:bodyPr>
          <a:lstStyle/>
          <a:p>
            <a:pPr algn="l">
              <a:lnSpc>
                <a:spcPts val="7688"/>
              </a:lnSpc>
            </a:pPr>
            <a:r>
              <a:rPr lang="en-US" sz="8737" b="1" i="1">
                <a:solidFill>
                  <a:srgbClr val="FFF0D1"/>
                </a:solidFill>
                <a:latin typeface="Times New Roman MT Bold Italics"/>
                <a:ea typeface="Times New Roman MT Bold Italics"/>
                <a:cs typeface="Times New Roman MT Bold Italics"/>
                <a:sym typeface="Times New Roman MT Bold Italics"/>
              </a:rPr>
              <a:t>BRIGHTLEARN COFFEE SHOP</a:t>
            </a:r>
          </a:p>
        </p:txBody>
      </p:sp>
      <p:grpSp>
        <p:nvGrpSpPr>
          <p:cNvPr id="5" name="Group 5"/>
          <p:cNvGrpSpPr/>
          <p:nvPr/>
        </p:nvGrpSpPr>
        <p:grpSpPr>
          <a:xfrm>
            <a:off x="-506186" y="5546816"/>
            <a:ext cx="1534886" cy="4740184"/>
            <a:chOff x="0" y="0"/>
            <a:chExt cx="404250" cy="1248444"/>
          </a:xfrm>
        </p:grpSpPr>
        <p:sp>
          <p:nvSpPr>
            <p:cNvPr id="6" name="Freeform 6"/>
            <p:cNvSpPr/>
            <p:nvPr/>
          </p:nvSpPr>
          <p:spPr>
            <a:xfrm>
              <a:off x="0" y="0"/>
              <a:ext cx="404250" cy="1248444"/>
            </a:xfrm>
            <a:custGeom>
              <a:avLst/>
              <a:gdLst/>
              <a:ahLst/>
              <a:cxnLst/>
              <a:rect l="l" t="t" r="r" b="b"/>
              <a:pathLst>
                <a:path w="404250" h="1248444">
                  <a:moveTo>
                    <a:pt x="0" y="0"/>
                  </a:moveTo>
                  <a:lnTo>
                    <a:pt x="404250" y="0"/>
                  </a:lnTo>
                  <a:lnTo>
                    <a:pt x="404250" y="1248444"/>
                  </a:lnTo>
                  <a:lnTo>
                    <a:pt x="0" y="1248444"/>
                  </a:lnTo>
                  <a:close/>
                </a:path>
              </a:pathLst>
            </a:custGeom>
            <a:solidFill>
              <a:srgbClr val="AE775C"/>
            </a:solidFill>
          </p:spPr>
          <p:txBody>
            <a:bodyPr/>
            <a:lstStyle/>
            <a:p>
              <a:endParaRPr lang="en-ZA"/>
            </a:p>
          </p:txBody>
        </p:sp>
        <p:sp>
          <p:nvSpPr>
            <p:cNvPr id="7" name="TextBox 7"/>
            <p:cNvSpPr txBox="1"/>
            <p:nvPr/>
          </p:nvSpPr>
          <p:spPr>
            <a:xfrm>
              <a:off x="0" y="-47625"/>
              <a:ext cx="404250" cy="1296069"/>
            </a:xfrm>
            <a:prstGeom prst="rect">
              <a:avLst/>
            </a:prstGeom>
          </p:spPr>
          <p:txBody>
            <a:bodyPr lIns="50800" tIns="50800" rIns="50800" bIns="50800" rtlCol="0" anchor="ctr"/>
            <a:lstStyle/>
            <a:p>
              <a:pPr algn="ctr">
                <a:lnSpc>
                  <a:spcPts val="2240"/>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A96C51"/>
        </a:solidFill>
        <a:effectLst/>
      </p:bgPr>
    </p:bg>
    <p:spTree>
      <p:nvGrpSpPr>
        <p:cNvPr id="1" name=""/>
        <p:cNvGrpSpPr/>
        <p:nvPr/>
      </p:nvGrpSpPr>
      <p:grpSpPr>
        <a:xfrm>
          <a:off x="0" y="0"/>
          <a:ext cx="0" cy="0"/>
          <a:chOff x="0" y="0"/>
          <a:chExt cx="0" cy="0"/>
        </a:xfrm>
      </p:grpSpPr>
      <p:sp>
        <p:nvSpPr>
          <p:cNvPr id="2" name="TextBox 2"/>
          <p:cNvSpPr txBox="1"/>
          <p:nvPr/>
        </p:nvSpPr>
        <p:spPr>
          <a:xfrm>
            <a:off x="0" y="1032068"/>
            <a:ext cx="7450177" cy="1008380"/>
          </a:xfrm>
          <a:prstGeom prst="rect">
            <a:avLst/>
          </a:prstGeom>
        </p:spPr>
        <p:txBody>
          <a:bodyPr lIns="0" tIns="0" rIns="0" bIns="0" rtlCol="0" anchor="t">
            <a:spAutoFit/>
          </a:bodyPr>
          <a:lstStyle/>
          <a:p>
            <a:pPr algn="ctr">
              <a:lnSpc>
                <a:spcPts val="7420"/>
              </a:lnSpc>
              <a:spcBef>
                <a:spcPct val="0"/>
              </a:spcBef>
            </a:pPr>
            <a:r>
              <a:rPr lang="en-US" sz="5300" b="1" i="1">
                <a:solidFill>
                  <a:srgbClr val="000000"/>
                </a:solidFill>
                <a:latin typeface="Times New Roman MT Bold Italics"/>
                <a:ea typeface="Times New Roman MT Bold Italics"/>
                <a:cs typeface="Times New Roman MT Bold Italics"/>
                <a:sym typeface="Times New Roman MT Bold Italics"/>
              </a:rPr>
              <a:t>TABLE OF CONTENT</a:t>
            </a:r>
          </a:p>
        </p:txBody>
      </p:sp>
      <p:sp>
        <p:nvSpPr>
          <p:cNvPr id="3" name="TextBox 3"/>
          <p:cNvSpPr txBox="1"/>
          <p:nvPr/>
        </p:nvSpPr>
        <p:spPr>
          <a:xfrm>
            <a:off x="6079986" y="4369753"/>
            <a:ext cx="6732508" cy="500380"/>
          </a:xfrm>
          <a:prstGeom prst="rect">
            <a:avLst/>
          </a:prstGeom>
        </p:spPr>
        <p:txBody>
          <a:bodyPr lIns="0" tIns="0" rIns="0" bIns="0" rtlCol="0" anchor="t">
            <a:spAutoFit/>
          </a:bodyPr>
          <a:lstStyle/>
          <a:p>
            <a:pPr marL="604519" lvl="1" indent="-302260" algn="l">
              <a:lnSpc>
                <a:spcPts val="3919"/>
              </a:lnSpc>
              <a:buFont typeface="Arial"/>
              <a:buChar char="•"/>
            </a:pPr>
            <a:r>
              <a:rPr lang="en-US" sz="2799" b="1" i="1">
                <a:solidFill>
                  <a:srgbClr val="000000"/>
                </a:solidFill>
                <a:latin typeface="Times New Roman Bold Italics"/>
                <a:ea typeface="Times New Roman Bold Italics"/>
                <a:cs typeface="Times New Roman Bold Italics"/>
                <a:sym typeface="Times New Roman Bold Italics"/>
              </a:rPr>
              <a:t>Coffee Shop Mission &amp; Vision Statements</a:t>
            </a:r>
          </a:p>
        </p:txBody>
      </p:sp>
      <p:sp>
        <p:nvSpPr>
          <p:cNvPr id="4" name="TextBox 4"/>
          <p:cNvSpPr txBox="1"/>
          <p:nvPr/>
        </p:nvSpPr>
        <p:spPr>
          <a:xfrm>
            <a:off x="6113054" y="5067300"/>
            <a:ext cx="6061891" cy="500380"/>
          </a:xfrm>
          <a:prstGeom prst="rect">
            <a:avLst/>
          </a:prstGeom>
        </p:spPr>
        <p:txBody>
          <a:bodyPr lIns="0" tIns="0" rIns="0" bIns="0" rtlCol="0" anchor="t">
            <a:spAutoFit/>
          </a:bodyPr>
          <a:lstStyle/>
          <a:p>
            <a:pPr marL="604521" lvl="1" indent="-302261" algn="l">
              <a:lnSpc>
                <a:spcPts val="3920"/>
              </a:lnSpc>
              <a:buFont typeface="Arial"/>
              <a:buChar char="•"/>
            </a:pPr>
            <a:r>
              <a:rPr lang="en-US" sz="2800" b="1" i="1">
                <a:solidFill>
                  <a:srgbClr val="000000"/>
                </a:solidFill>
                <a:latin typeface="Times New Roman Bold Italics"/>
                <a:ea typeface="Times New Roman Bold Italics"/>
                <a:cs typeface="Times New Roman Bold Italics"/>
                <a:sym typeface="Times New Roman Bold Italics"/>
              </a:rPr>
              <a:t>Overview</a:t>
            </a:r>
          </a:p>
        </p:txBody>
      </p:sp>
      <p:sp>
        <p:nvSpPr>
          <p:cNvPr id="5" name="TextBox 5"/>
          <p:cNvSpPr txBox="1"/>
          <p:nvPr/>
        </p:nvSpPr>
        <p:spPr>
          <a:xfrm>
            <a:off x="6113054" y="5767705"/>
            <a:ext cx="5125643" cy="500380"/>
          </a:xfrm>
          <a:prstGeom prst="rect">
            <a:avLst/>
          </a:prstGeom>
        </p:spPr>
        <p:txBody>
          <a:bodyPr lIns="0" tIns="0" rIns="0" bIns="0" rtlCol="0" anchor="t">
            <a:spAutoFit/>
          </a:bodyPr>
          <a:lstStyle/>
          <a:p>
            <a:pPr marL="604521" lvl="1" indent="-302261" algn="l">
              <a:lnSpc>
                <a:spcPts val="3920"/>
              </a:lnSpc>
              <a:buFont typeface="Arial"/>
              <a:buChar char="•"/>
            </a:pPr>
            <a:r>
              <a:rPr lang="en-US" sz="2800" b="1" i="1">
                <a:solidFill>
                  <a:srgbClr val="000000"/>
                </a:solidFill>
                <a:latin typeface="Times New Roman Bold Italics"/>
                <a:ea typeface="Times New Roman Bold Italics"/>
                <a:cs typeface="Times New Roman Bold Italics"/>
                <a:sym typeface="Times New Roman Bold Italics"/>
              </a:rPr>
              <a:t>Findings</a:t>
            </a:r>
          </a:p>
        </p:txBody>
      </p:sp>
      <p:sp>
        <p:nvSpPr>
          <p:cNvPr id="6" name="TextBox 6"/>
          <p:cNvSpPr txBox="1"/>
          <p:nvPr/>
        </p:nvSpPr>
        <p:spPr>
          <a:xfrm>
            <a:off x="6113054" y="6468110"/>
            <a:ext cx="3310771" cy="500380"/>
          </a:xfrm>
          <a:prstGeom prst="rect">
            <a:avLst/>
          </a:prstGeom>
        </p:spPr>
        <p:txBody>
          <a:bodyPr lIns="0" tIns="0" rIns="0" bIns="0" rtlCol="0" anchor="t">
            <a:spAutoFit/>
          </a:bodyPr>
          <a:lstStyle/>
          <a:p>
            <a:pPr marL="604519" lvl="1" indent="-302260" algn="l">
              <a:lnSpc>
                <a:spcPts val="3919"/>
              </a:lnSpc>
              <a:buFont typeface="Arial"/>
              <a:buChar char="•"/>
            </a:pPr>
            <a:r>
              <a:rPr lang="en-US" sz="2799" b="1" i="1">
                <a:solidFill>
                  <a:srgbClr val="000000"/>
                </a:solidFill>
                <a:latin typeface="Times New Roman Bold Italics"/>
                <a:ea typeface="Times New Roman Bold Italics"/>
                <a:cs typeface="Times New Roman Bold Italics"/>
                <a:sym typeface="Times New Roman Bold Italics"/>
              </a:rPr>
              <a:t>Recommendations</a:t>
            </a:r>
          </a:p>
        </p:txBody>
      </p:sp>
      <p:sp>
        <p:nvSpPr>
          <p:cNvPr id="7" name="TextBox 7"/>
          <p:cNvSpPr txBox="1"/>
          <p:nvPr/>
        </p:nvSpPr>
        <p:spPr>
          <a:xfrm>
            <a:off x="6113054" y="7168515"/>
            <a:ext cx="3864055" cy="500380"/>
          </a:xfrm>
          <a:prstGeom prst="rect">
            <a:avLst/>
          </a:prstGeom>
        </p:spPr>
        <p:txBody>
          <a:bodyPr lIns="0" tIns="0" rIns="0" bIns="0" rtlCol="0" anchor="t">
            <a:spAutoFit/>
          </a:bodyPr>
          <a:lstStyle/>
          <a:p>
            <a:pPr marL="604519" lvl="1" indent="-302260" algn="l">
              <a:lnSpc>
                <a:spcPts val="3919"/>
              </a:lnSpc>
              <a:buFont typeface="Arial"/>
              <a:buChar char="•"/>
            </a:pPr>
            <a:r>
              <a:rPr lang="en-US" sz="2799" b="1">
                <a:solidFill>
                  <a:srgbClr val="000000"/>
                </a:solidFill>
                <a:latin typeface="Times New Roman Bold"/>
                <a:ea typeface="Times New Roman Bold"/>
                <a:cs typeface="Times New Roman Bold"/>
                <a:sym typeface="Times New Roman Bold"/>
              </a:rPr>
              <a:t>Questions &amp; Answers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A96C51"/>
        </a:solidFill>
        <a:effectLst/>
      </p:bgPr>
    </p:bg>
    <p:spTree>
      <p:nvGrpSpPr>
        <p:cNvPr id="1" name=""/>
        <p:cNvGrpSpPr/>
        <p:nvPr/>
      </p:nvGrpSpPr>
      <p:grpSpPr>
        <a:xfrm>
          <a:off x="0" y="0"/>
          <a:ext cx="0" cy="0"/>
          <a:chOff x="0" y="0"/>
          <a:chExt cx="0" cy="0"/>
        </a:xfrm>
      </p:grpSpPr>
      <p:sp>
        <p:nvSpPr>
          <p:cNvPr id="2" name="TextBox 2"/>
          <p:cNvSpPr txBox="1"/>
          <p:nvPr/>
        </p:nvSpPr>
        <p:spPr>
          <a:xfrm>
            <a:off x="385127" y="1869136"/>
            <a:ext cx="2670810" cy="1008380"/>
          </a:xfrm>
          <a:prstGeom prst="rect">
            <a:avLst/>
          </a:prstGeom>
        </p:spPr>
        <p:txBody>
          <a:bodyPr lIns="0" tIns="0" rIns="0" bIns="0" rtlCol="0" anchor="t">
            <a:spAutoFit/>
          </a:bodyPr>
          <a:lstStyle/>
          <a:p>
            <a:pPr algn="ctr">
              <a:lnSpc>
                <a:spcPts val="7420"/>
              </a:lnSpc>
              <a:spcBef>
                <a:spcPct val="0"/>
              </a:spcBef>
            </a:pPr>
            <a:r>
              <a:rPr lang="en-US" sz="5300" b="1" i="1">
                <a:solidFill>
                  <a:srgbClr val="000000"/>
                </a:solidFill>
                <a:latin typeface="Times New Roman MT Bold Italics"/>
                <a:ea typeface="Times New Roman MT Bold Italics"/>
                <a:cs typeface="Times New Roman MT Bold Italics"/>
                <a:sym typeface="Times New Roman MT Bold Italics"/>
              </a:rPr>
              <a:t>VISION:</a:t>
            </a:r>
          </a:p>
        </p:txBody>
      </p:sp>
      <p:sp>
        <p:nvSpPr>
          <p:cNvPr id="3" name="TextBox 3"/>
          <p:cNvSpPr txBox="1"/>
          <p:nvPr/>
        </p:nvSpPr>
        <p:spPr>
          <a:xfrm>
            <a:off x="1453171" y="3238294"/>
            <a:ext cx="16478854" cy="1590034"/>
          </a:xfrm>
          <a:prstGeom prst="rect">
            <a:avLst/>
          </a:prstGeom>
        </p:spPr>
        <p:txBody>
          <a:bodyPr lIns="0" tIns="0" rIns="0" bIns="0" rtlCol="0" anchor="t">
            <a:spAutoFit/>
          </a:bodyPr>
          <a:lstStyle/>
          <a:p>
            <a:pPr algn="ctr">
              <a:lnSpc>
                <a:spcPts val="3076"/>
              </a:lnSpc>
              <a:spcBef>
                <a:spcPct val="0"/>
              </a:spcBef>
            </a:pPr>
            <a:r>
              <a:rPr lang="en-US" sz="2197" b="1" i="1">
                <a:solidFill>
                  <a:srgbClr val="FEFEFD"/>
                </a:solidFill>
                <a:latin typeface="Times New Roman MT Bold Italics"/>
                <a:ea typeface="Times New Roman MT Bold Italics"/>
                <a:cs typeface="Times New Roman MT Bold Italics"/>
                <a:sym typeface="Times New Roman MT Bold Italics"/>
              </a:rPr>
              <a:t>OUR COMMITMENT TO SUSTAINABILITY REVOLVES AROUND ETHICALLY SOURCING OUR COFFEE BEANS. WE PRIORITISE FAIR AND DIRECT TRADE PROCEDURES TO ENSURE TRANSPARENCY AND RESPONSIBLE SOURCING. OUR ETHICAL COLLABORATIONS EMPOWER FARMERS AND BENEFIT THEIR COMMUNITIES WHILE ENSURING QUALITY AND TRACEABILITY. </a:t>
            </a:r>
          </a:p>
        </p:txBody>
      </p:sp>
      <p:sp>
        <p:nvSpPr>
          <p:cNvPr id="4" name="TextBox 4"/>
          <p:cNvSpPr txBox="1"/>
          <p:nvPr/>
        </p:nvSpPr>
        <p:spPr>
          <a:xfrm>
            <a:off x="293925" y="7021913"/>
            <a:ext cx="2853214" cy="1008380"/>
          </a:xfrm>
          <a:prstGeom prst="rect">
            <a:avLst/>
          </a:prstGeom>
        </p:spPr>
        <p:txBody>
          <a:bodyPr lIns="0" tIns="0" rIns="0" bIns="0" rtlCol="0" anchor="t">
            <a:spAutoFit/>
          </a:bodyPr>
          <a:lstStyle/>
          <a:p>
            <a:pPr algn="ctr">
              <a:lnSpc>
                <a:spcPts val="7420"/>
              </a:lnSpc>
              <a:spcBef>
                <a:spcPct val="0"/>
              </a:spcBef>
            </a:pPr>
            <a:r>
              <a:rPr lang="en-US" sz="5300" b="1" i="1">
                <a:solidFill>
                  <a:srgbClr val="000000"/>
                </a:solidFill>
                <a:latin typeface="Times New Roman MT Bold Italics"/>
                <a:ea typeface="Times New Roman MT Bold Italics"/>
                <a:cs typeface="Times New Roman MT Bold Italics"/>
                <a:sym typeface="Times New Roman MT Bold Italics"/>
              </a:rPr>
              <a:t>MISION:</a:t>
            </a:r>
          </a:p>
        </p:txBody>
      </p:sp>
      <p:sp>
        <p:nvSpPr>
          <p:cNvPr id="5" name="TextBox 5"/>
          <p:cNvSpPr txBox="1"/>
          <p:nvPr/>
        </p:nvSpPr>
        <p:spPr>
          <a:xfrm>
            <a:off x="3518527" y="8363668"/>
            <a:ext cx="13392627" cy="411607"/>
          </a:xfrm>
          <a:prstGeom prst="rect">
            <a:avLst/>
          </a:prstGeom>
        </p:spPr>
        <p:txBody>
          <a:bodyPr lIns="0" tIns="0" rIns="0" bIns="0" rtlCol="0" anchor="t">
            <a:spAutoFit/>
          </a:bodyPr>
          <a:lstStyle/>
          <a:p>
            <a:pPr algn="ctr">
              <a:lnSpc>
                <a:spcPts val="3037"/>
              </a:lnSpc>
              <a:spcBef>
                <a:spcPct val="0"/>
              </a:spcBef>
            </a:pPr>
            <a:r>
              <a:rPr lang="en-US" sz="2169" b="1" i="1">
                <a:solidFill>
                  <a:srgbClr val="FEFEFD"/>
                </a:solidFill>
                <a:latin typeface="Times New Roman MT Bold Italics"/>
                <a:ea typeface="Times New Roman MT Bold Italics"/>
                <a:cs typeface="Times New Roman MT Bold Italics"/>
                <a:sym typeface="Times New Roman MT Bold Italics"/>
              </a:rPr>
              <a:t>TO TREAT CUSTOMERS WITH RESPECT LIKE FAMILY, AND THEY WILL BE LOYAL TO OUR BRAND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A96C51"/>
        </a:solidFill>
        <a:effectLst/>
      </p:bgPr>
    </p:bg>
    <p:spTree>
      <p:nvGrpSpPr>
        <p:cNvPr id="1" name=""/>
        <p:cNvGrpSpPr/>
        <p:nvPr/>
      </p:nvGrpSpPr>
      <p:grpSpPr>
        <a:xfrm>
          <a:off x="0" y="0"/>
          <a:ext cx="0" cy="0"/>
          <a:chOff x="0" y="0"/>
          <a:chExt cx="0" cy="0"/>
        </a:xfrm>
      </p:grpSpPr>
      <p:sp>
        <p:nvSpPr>
          <p:cNvPr id="2" name="TextBox 2"/>
          <p:cNvSpPr txBox="1"/>
          <p:nvPr/>
        </p:nvSpPr>
        <p:spPr>
          <a:xfrm>
            <a:off x="433941" y="819150"/>
            <a:ext cx="3697962" cy="1008380"/>
          </a:xfrm>
          <a:prstGeom prst="rect">
            <a:avLst/>
          </a:prstGeom>
        </p:spPr>
        <p:txBody>
          <a:bodyPr lIns="0" tIns="0" rIns="0" bIns="0" rtlCol="0" anchor="t">
            <a:spAutoFit/>
          </a:bodyPr>
          <a:lstStyle/>
          <a:p>
            <a:pPr algn="ctr">
              <a:lnSpc>
                <a:spcPts val="7420"/>
              </a:lnSpc>
              <a:spcBef>
                <a:spcPct val="0"/>
              </a:spcBef>
            </a:pPr>
            <a:r>
              <a:rPr lang="en-US" sz="5300" b="1" i="1">
                <a:solidFill>
                  <a:srgbClr val="000000"/>
                </a:solidFill>
                <a:latin typeface="Times New Roman MT Bold Italics"/>
                <a:ea typeface="Times New Roman MT Bold Italics"/>
                <a:cs typeface="Times New Roman MT Bold Italics"/>
                <a:sym typeface="Times New Roman MT Bold Italics"/>
              </a:rPr>
              <a:t>OVERVIEW</a:t>
            </a:r>
          </a:p>
        </p:txBody>
      </p:sp>
      <p:sp>
        <p:nvSpPr>
          <p:cNvPr id="3" name="TextBox 3"/>
          <p:cNvSpPr txBox="1"/>
          <p:nvPr/>
        </p:nvSpPr>
        <p:spPr>
          <a:xfrm>
            <a:off x="9139238" y="4534535"/>
            <a:ext cx="9525" cy="1008380"/>
          </a:xfrm>
          <a:prstGeom prst="rect">
            <a:avLst/>
          </a:prstGeom>
        </p:spPr>
        <p:txBody>
          <a:bodyPr lIns="0" tIns="0" rIns="0" bIns="0" rtlCol="0" anchor="t">
            <a:spAutoFit/>
          </a:bodyPr>
          <a:lstStyle/>
          <a:p>
            <a:pPr algn="ctr">
              <a:lnSpc>
                <a:spcPts val="7420"/>
              </a:lnSpc>
              <a:spcBef>
                <a:spcPct val="0"/>
              </a:spcBef>
            </a:pPr>
            <a:endParaRPr/>
          </a:p>
        </p:txBody>
      </p:sp>
      <p:sp>
        <p:nvSpPr>
          <p:cNvPr id="4" name="TextBox 4"/>
          <p:cNvSpPr txBox="1"/>
          <p:nvPr/>
        </p:nvSpPr>
        <p:spPr>
          <a:xfrm>
            <a:off x="264337" y="2204403"/>
            <a:ext cx="17259300" cy="3850640"/>
          </a:xfrm>
          <a:prstGeom prst="rect">
            <a:avLst/>
          </a:prstGeom>
        </p:spPr>
        <p:txBody>
          <a:bodyPr lIns="0" tIns="0" rIns="0" bIns="0" rtlCol="0" anchor="t">
            <a:spAutoFit/>
          </a:bodyPr>
          <a:lstStyle/>
          <a:p>
            <a:pPr algn="ctr">
              <a:lnSpc>
                <a:spcPts val="3079"/>
              </a:lnSpc>
            </a:pPr>
            <a:r>
              <a:rPr lang="en-US" sz="2199" b="1">
                <a:solidFill>
                  <a:srgbClr val="FEFEFD"/>
                </a:solidFill>
                <a:latin typeface="Times New Roman Bold"/>
                <a:ea typeface="Times New Roman Bold"/>
                <a:cs typeface="Times New Roman Bold"/>
                <a:sym typeface="Times New Roman Bold"/>
              </a:rPr>
              <a:t>The coffee shop data was collected for 6 months, starting from January to June from 3 store.   The objective is to analize the data and see the sales report for different products and use the results to make sound business decisions.</a:t>
            </a:r>
          </a:p>
          <a:p>
            <a:pPr algn="ctr">
              <a:lnSpc>
                <a:spcPts val="3079"/>
              </a:lnSpc>
            </a:pPr>
            <a:endParaRPr lang="en-US" sz="2199" b="1">
              <a:solidFill>
                <a:srgbClr val="FEFEFD"/>
              </a:solidFill>
              <a:latin typeface="Times New Roman Bold"/>
              <a:ea typeface="Times New Roman Bold"/>
              <a:cs typeface="Times New Roman Bold"/>
              <a:sym typeface="Times New Roman Bold"/>
            </a:endParaRPr>
          </a:p>
          <a:p>
            <a:pPr algn="ctr">
              <a:lnSpc>
                <a:spcPts val="3079"/>
              </a:lnSpc>
            </a:pPr>
            <a:r>
              <a:rPr lang="en-US" sz="2199" b="1">
                <a:solidFill>
                  <a:srgbClr val="FEFEFD"/>
                </a:solidFill>
                <a:latin typeface="Times New Roman Bold"/>
                <a:ea typeface="Times New Roman Bold"/>
                <a:cs typeface="Times New Roman Bold"/>
                <a:sym typeface="Times New Roman Bold"/>
              </a:rPr>
              <a:t>I cleaned the given raw data so that it can be used in my SQL queries.  I used excel, databricks,Canva and Miro as my tools for this project.  Different queries were created to get time buckets sales period by product category and details, compared the 3 stores for the period of 6 months.  After my analysis, I was able to retrieve 6 different reports that will be used to make sound business decisions by our new CEO.</a:t>
            </a:r>
          </a:p>
          <a:p>
            <a:pPr algn="l">
              <a:lnSpc>
                <a:spcPts val="3079"/>
              </a:lnSpc>
            </a:pPr>
            <a:endParaRPr lang="en-US" sz="2199" b="1">
              <a:solidFill>
                <a:srgbClr val="FEFEFD"/>
              </a:solidFill>
              <a:latin typeface="Times New Roman Bold"/>
              <a:ea typeface="Times New Roman Bold"/>
              <a:cs typeface="Times New Roman Bold"/>
              <a:sym typeface="Times New Roman Bold"/>
            </a:endParaRPr>
          </a:p>
          <a:p>
            <a:pPr algn="l">
              <a:lnSpc>
                <a:spcPts val="3079"/>
              </a:lnSpc>
            </a:pPr>
            <a:r>
              <a:rPr lang="en-US" sz="2199" b="1">
                <a:solidFill>
                  <a:srgbClr val="FEFEFD"/>
                </a:solidFill>
                <a:latin typeface="Times New Roman Bold"/>
                <a:ea typeface="Times New Roman Bold"/>
                <a:cs typeface="Times New Roman Bold"/>
                <a:sym typeface="Times New Roman Bold"/>
              </a:rPr>
              <a:t>Findings and recommendations are tabled on the slides.</a:t>
            </a:r>
          </a:p>
          <a:p>
            <a:pPr algn="ctr">
              <a:lnSpc>
                <a:spcPts val="2800"/>
              </a:lnSpc>
            </a:pPr>
            <a:endParaRPr lang="en-US" sz="2199" b="1">
              <a:solidFill>
                <a:srgbClr val="FEFEFD"/>
              </a:solidFill>
              <a:latin typeface="Times New Roman Bold"/>
              <a:ea typeface="Times New Roman Bold"/>
              <a:cs typeface="Times New Roman Bold"/>
              <a:sym typeface="Times New Roman Bold"/>
            </a:endParaRPr>
          </a:p>
          <a:p>
            <a:pPr algn="ctr">
              <a:lnSpc>
                <a:spcPts val="2940"/>
              </a:lnSpc>
            </a:pPr>
            <a:r>
              <a:rPr lang="en-US" sz="2100" b="1">
                <a:solidFill>
                  <a:srgbClr val="FEFEFD"/>
                </a:solidFill>
                <a:latin typeface="Canva Sans Bold"/>
                <a:ea typeface="Canva Sans Bold"/>
                <a:cs typeface="Canva Sans Bold"/>
                <a:sym typeface="Canva Sans Bold"/>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A96C51"/>
        </a:solidFill>
        <a:effectLst/>
      </p:bgPr>
    </p:bg>
    <p:spTree>
      <p:nvGrpSpPr>
        <p:cNvPr id="1" name=""/>
        <p:cNvGrpSpPr/>
        <p:nvPr/>
      </p:nvGrpSpPr>
      <p:grpSpPr>
        <a:xfrm>
          <a:off x="0" y="0"/>
          <a:ext cx="0" cy="0"/>
          <a:chOff x="0" y="0"/>
          <a:chExt cx="0" cy="0"/>
        </a:xfrm>
      </p:grpSpPr>
      <p:sp>
        <p:nvSpPr>
          <p:cNvPr id="2" name="Freeform 2"/>
          <p:cNvSpPr/>
          <p:nvPr/>
        </p:nvSpPr>
        <p:spPr>
          <a:xfrm>
            <a:off x="3437629" y="3135628"/>
            <a:ext cx="11412742" cy="7003796"/>
          </a:xfrm>
          <a:custGeom>
            <a:avLst/>
            <a:gdLst/>
            <a:ahLst/>
            <a:cxnLst/>
            <a:rect l="l" t="t" r="r" b="b"/>
            <a:pathLst>
              <a:path w="11412742" h="7003796">
                <a:moveTo>
                  <a:pt x="0" y="0"/>
                </a:moveTo>
                <a:lnTo>
                  <a:pt x="11412742" y="0"/>
                </a:lnTo>
                <a:lnTo>
                  <a:pt x="11412742" y="7003796"/>
                </a:lnTo>
                <a:lnTo>
                  <a:pt x="0" y="7003796"/>
                </a:lnTo>
                <a:lnTo>
                  <a:pt x="0" y="0"/>
                </a:lnTo>
                <a:close/>
              </a:path>
            </a:pathLst>
          </a:custGeom>
          <a:blipFill>
            <a:blip r:embed="rId2"/>
            <a:stretch>
              <a:fillRect/>
            </a:stretch>
          </a:blipFill>
        </p:spPr>
        <p:txBody>
          <a:bodyPr/>
          <a:lstStyle/>
          <a:p>
            <a:endParaRPr lang="en-ZA"/>
          </a:p>
        </p:txBody>
      </p:sp>
      <p:sp>
        <p:nvSpPr>
          <p:cNvPr id="3" name="TextBox 3"/>
          <p:cNvSpPr txBox="1"/>
          <p:nvPr/>
        </p:nvSpPr>
        <p:spPr>
          <a:xfrm>
            <a:off x="2932720" y="216121"/>
            <a:ext cx="13025602" cy="554035"/>
          </a:xfrm>
          <a:prstGeom prst="rect">
            <a:avLst/>
          </a:prstGeom>
        </p:spPr>
        <p:txBody>
          <a:bodyPr lIns="0" tIns="0" rIns="0" bIns="0" rtlCol="0" anchor="t">
            <a:spAutoFit/>
          </a:bodyPr>
          <a:lstStyle/>
          <a:p>
            <a:pPr algn="ctr">
              <a:lnSpc>
                <a:spcPts val="4112"/>
              </a:lnSpc>
              <a:spcBef>
                <a:spcPct val="0"/>
              </a:spcBef>
            </a:pPr>
            <a:r>
              <a:rPr lang="en-US" sz="2937" b="1" i="1">
                <a:solidFill>
                  <a:srgbClr val="FEFEFD"/>
                </a:solidFill>
                <a:latin typeface="Times New Roman MT Bold Italics"/>
                <a:ea typeface="Times New Roman MT Bold Italics"/>
                <a:cs typeface="Times New Roman MT Bold Italics"/>
                <a:sym typeface="Times New Roman MT Bold Italics"/>
              </a:rPr>
              <a:t>REVENUE GENERATION:STORE LOCATION</a:t>
            </a:r>
          </a:p>
        </p:txBody>
      </p:sp>
      <p:sp>
        <p:nvSpPr>
          <p:cNvPr id="4" name="TextBox 4"/>
          <p:cNvSpPr txBox="1"/>
          <p:nvPr/>
        </p:nvSpPr>
        <p:spPr>
          <a:xfrm>
            <a:off x="0" y="942975"/>
            <a:ext cx="17287949" cy="810895"/>
          </a:xfrm>
          <a:prstGeom prst="rect">
            <a:avLst/>
          </a:prstGeom>
        </p:spPr>
        <p:txBody>
          <a:bodyPr lIns="0" tIns="0" rIns="0" bIns="0" rtlCol="0" anchor="t">
            <a:spAutoFit/>
          </a:bodyPr>
          <a:lstStyle/>
          <a:p>
            <a:pPr algn="ctr">
              <a:lnSpc>
                <a:spcPts val="3079"/>
              </a:lnSpc>
              <a:spcBef>
                <a:spcPct val="0"/>
              </a:spcBef>
            </a:pPr>
            <a:r>
              <a:rPr lang="en-US" sz="2199" b="1">
                <a:solidFill>
                  <a:srgbClr val="000000"/>
                </a:solidFill>
                <a:latin typeface="Times New Roman MT Bold"/>
                <a:ea typeface="Times New Roman MT Bold"/>
                <a:cs typeface="Times New Roman MT Bold"/>
                <a:sym typeface="Times New Roman MT Bold"/>
              </a:rPr>
              <a:t>INSIGHT :</a:t>
            </a:r>
            <a:r>
              <a:rPr lang="en-US" sz="2199" b="1">
                <a:solidFill>
                  <a:srgbClr val="FEFEFD"/>
                </a:solidFill>
                <a:latin typeface="Times New Roman MT Bold"/>
                <a:ea typeface="Times New Roman MT Bold"/>
                <a:cs typeface="Times New Roman MT Bold"/>
                <a:sym typeface="Times New Roman MT Bold"/>
              </a:rPr>
              <a:t>ALL STORE LOCATIONS HAD AN INCREASE IN THE SALE OF COFFEE FROM MARCH TO JUNE, REASON BEING THE CHANGE IN SEASONS AS CLIENTS DRINK MORE COFFEE IN WINTER.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A96C51"/>
        </a:solidFill>
        <a:effectLst/>
      </p:bgPr>
    </p:bg>
    <p:spTree>
      <p:nvGrpSpPr>
        <p:cNvPr id="1" name=""/>
        <p:cNvGrpSpPr/>
        <p:nvPr/>
      </p:nvGrpSpPr>
      <p:grpSpPr>
        <a:xfrm>
          <a:off x="0" y="0"/>
          <a:ext cx="0" cy="0"/>
          <a:chOff x="0" y="0"/>
          <a:chExt cx="0" cy="0"/>
        </a:xfrm>
      </p:grpSpPr>
      <p:sp>
        <p:nvSpPr>
          <p:cNvPr id="2" name="Freeform 2"/>
          <p:cNvSpPr/>
          <p:nvPr/>
        </p:nvSpPr>
        <p:spPr>
          <a:xfrm>
            <a:off x="1639062" y="3482658"/>
            <a:ext cx="15620238" cy="6043947"/>
          </a:xfrm>
          <a:custGeom>
            <a:avLst/>
            <a:gdLst/>
            <a:ahLst/>
            <a:cxnLst/>
            <a:rect l="l" t="t" r="r" b="b"/>
            <a:pathLst>
              <a:path w="15620238" h="6043947">
                <a:moveTo>
                  <a:pt x="0" y="0"/>
                </a:moveTo>
                <a:lnTo>
                  <a:pt x="15620238" y="0"/>
                </a:lnTo>
                <a:lnTo>
                  <a:pt x="15620238" y="6043947"/>
                </a:lnTo>
                <a:lnTo>
                  <a:pt x="0" y="6043947"/>
                </a:lnTo>
                <a:lnTo>
                  <a:pt x="0" y="0"/>
                </a:lnTo>
                <a:close/>
              </a:path>
            </a:pathLst>
          </a:custGeom>
          <a:blipFill>
            <a:blip r:embed="rId2"/>
            <a:stretch>
              <a:fillRect l="-552" r="-552"/>
            </a:stretch>
          </a:blipFill>
        </p:spPr>
        <p:txBody>
          <a:bodyPr/>
          <a:lstStyle/>
          <a:p>
            <a:endParaRPr lang="en-ZA"/>
          </a:p>
        </p:txBody>
      </p:sp>
      <p:sp>
        <p:nvSpPr>
          <p:cNvPr id="3" name="TextBox 3"/>
          <p:cNvSpPr txBox="1"/>
          <p:nvPr/>
        </p:nvSpPr>
        <p:spPr>
          <a:xfrm>
            <a:off x="4306536" y="172972"/>
            <a:ext cx="9278421" cy="1008380"/>
          </a:xfrm>
          <a:prstGeom prst="rect">
            <a:avLst/>
          </a:prstGeom>
        </p:spPr>
        <p:txBody>
          <a:bodyPr lIns="0" tIns="0" rIns="0" bIns="0" rtlCol="0" anchor="t">
            <a:spAutoFit/>
          </a:bodyPr>
          <a:lstStyle/>
          <a:p>
            <a:pPr algn="ctr">
              <a:lnSpc>
                <a:spcPts val="7420"/>
              </a:lnSpc>
              <a:spcBef>
                <a:spcPct val="0"/>
              </a:spcBef>
            </a:pPr>
            <a:endParaRPr/>
          </a:p>
        </p:txBody>
      </p:sp>
      <p:sp>
        <p:nvSpPr>
          <p:cNvPr id="4" name="TextBox 4"/>
          <p:cNvSpPr txBox="1"/>
          <p:nvPr/>
        </p:nvSpPr>
        <p:spPr>
          <a:xfrm>
            <a:off x="3838959" y="172972"/>
            <a:ext cx="9684901" cy="1008380"/>
          </a:xfrm>
          <a:prstGeom prst="rect">
            <a:avLst/>
          </a:prstGeom>
        </p:spPr>
        <p:txBody>
          <a:bodyPr lIns="0" tIns="0" rIns="0" bIns="0" rtlCol="0" anchor="t">
            <a:spAutoFit/>
          </a:bodyPr>
          <a:lstStyle/>
          <a:p>
            <a:pPr algn="ctr">
              <a:lnSpc>
                <a:spcPts val="7420"/>
              </a:lnSpc>
              <a:spcBef>
                <a:spcPct val="0"/>
              </a:spcBef>
            </a:pPr>
            <a:r>
              <a:rPr lang="en-US" sz="5300" b="1" i="1">
                <a:solidFill>
                  <a:srgbClr val="FEFEFD"/>
                </a:solidFill>
                <a:latin typeface="Times New Roman MT Bold Italics"/>
                <a:ea typeface="Times New Roman MT Bold Italics"/>
                <a:cs typeface="Times New Roman MT Bold Italics"/>
                <a:sym typeface="Times New Roman MT Bold Italics"/>
              </a:rPr>
              <a:t>SALES COUNT PER MONTHS</a:t>
            </a:r>
          </a:p>
        </p:txBody>
      </p:sp>
      <p:sp>
        <p:nvSpPr>
          <p:cNvPr id="5" name="TextBox 5"/>
          <p:cNvSpPr txBox="1"/>
          <p:nvPr/>
        </p:nvSpPr>
        <p:spPr>
          <a:xfrm>
            <a:off x="0" y="1244005"/>
            <a:ext cx="16831168" cy="1201420"/>
          </a:xfrm>
          <a:prstGeom prst="rect">
            <a:avLst/>
          </a:prstGeom>
        </p:spPr>
        <p:txBody>
          <a:bodyPr lIns="0" tIns="0" rIns="0" bIns="0" rtlCol="0" anchor="t">
            <a:spAutoFit/>
          </a:bodyPr>
          <a:lstStyle/>
          <a:p>
            <a:pPr algn="ctr">
              <a:lnSpc>
                <a:spcPts val="3079"/>
              </a:lnSpc>
            </a:pPr>
            <a:r>
              <a:rPr lang="en-US" sz="2199" b="1" i="1">
                <a:solidFill>
                  <a:srgbClr val="000000"/>
                </a:solidFill>
                <a:latin typeface="Times New Roman MT Bold Italics"/>
                <a:ea typeface="Times New Roman MT Bold Italics"/>
                <a:cs typeface="Times New Roman MT Bold Italics"/>
                <a:sym typeface="Times New Roman MT Bold Italics"/>
              </a:rPr>
              <a:t>INSIGHT: </a:t>
            </a:r>
            <a:r>
              <a:rPr lang="en-US" sz="2199" b="1" i="1">
                <a:solidFill>
                  <a:srgbClr val="FEFEFD"/>
                </a:solidFill>
                <a:latin typeface="Times New Roman MT Bold Italics"/>
                <a:ea typeface="Times New Roman MT Bold Italics"/>
                <a:cs typeface="Times New Roman MT Bold Italics"/>
                <a:sym typeface="Times New Roman MT Bold Italics"/>
              </a:rPr>
              <a:t>ALL STORES SOLD MORE COFFEE DURING THE WEEKDAYS AS COMPARED TO WEEKEND.</a:t>
            </a:r>
          </a:p>
          <a:p>
            <a:pPr algn="ctr">
              <a:lnSpc>
                <a:spcPts val="3079"/>
              </a:lnSpc>
            </a:pPr>
            <a:endParaRPr lang="en-US" sz="2199" b="1" i="1">
              <a:solidFill>
                <a:srgbClr val="FEFEFD"/>
              </a:solidFill>
              <a:latin typeface="Times New Roman MT Bold Italics"/>
              <a:ea typeface="Times New Roman MT Bold Italics"/>
              <a:cs typeface="Times New Roman MT Bold Italics"/>
              <a:sym typeface="Times New Roman MT Bold Italics"/>
            </a:endParaRPr>
          </a:p>
          <a:p>
            <a:pPr algn="ctr">
              <a:lnSpc>
                <a:spcPts val="3079"/>
              </a:lnSpc>
              <a:spcBef>
                <a:spcPct val="0"/>
              </a:spcBef>
            </a:pPr>
            <a:r>
              <a:rPr lang="en-US" sz="2199" b="1" i="1">
                <a:solidFill>
                  <a:srgbClr val="FEFEFD"/>
                </a:solidFill>
                <a:latin typeface="Times New Roman MT Bold Italics"/>
                <a:ea typeface="Times New Roman MT Bold Italics"/>
                <a:cs typeface="Times New Roman MT Bold Italics"/>
                <a:sym typeface="Times New Roman MT Bold Italics"/>
              </a:rPr>
              <a:t>LOWER MANHATTAN SHOULD PROMOTE THEIR PRODUCTS AS THEY SELL LESS PRODUCTS THROUGH OUT.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96C51"/>
        </a:solidFill>
        <a:effectLst/>
      </p:bgPr>
    </p:bg>
    <p:spTree>
      <p:nvGrpSpPr>
        <p:cNvPr id="1" name=""/>
        <p:cNvGrpSpPr/>
        <p:nvPr/>
      </p:nvGrpSpPr>
      <p:grpSpPr>
        <a:xfrm>
          <a:off x="0" y="0"/>
          <a:ext cx="0" cy="0"/>
          <a:chOff x="0" y="0"/>
          <a:chExt cx="0" cy="0"/>
        </a:xfrm>
      </p:grpSpPr>
      <p:sp>
        <p:nvSpPr>
          <p:cNvPr id="2" name="Freeform 2"/>
          <p:cNvSpPr/>
          <p:nvPr/>
        </p:nvSpPr>
        <p:spPr>
          <a:xfrm>
            <a:off x="2098421" y="2727773"/>
            <a:ext cx="13606539" cy="7334406"/>
          </a:xfrm>
          <a:custGeom>
            <a:avLst/>
            <a:gdLst/>
            <a:ahLst/>
            <a:cxnLst/>
            <a:rect l="l" t="t" r="r" b="b"/>
            <a:pathLst>
              <a:path w="13606539" h="7334406">
                <a:moveTo>
                  <a:pt x="0" y="0"/>
                </a:moveTo>
                <a:lnTo>
                  <a:pt x="13606539" y="0"/>
                </a:lnTo>
                <a:lnTo>
                  <a:pt x="13606539" y="7334406"/>
                </a:lnTo>
                <a:lnTo>
                  <a:pt x="0" y="7334406"/>
                </a:lnTo>
                <a:lnTo>
                  <a:pt x="0" y="0"/>
                </a:lnTo>
                <a:close/>
              </a:path>
            </a:pathLst>
          </a:custGeom>
          <a:blipFill>
            <a:blip r:embed="rId2"/>
            <a:stretch>
              <a:fillRect t="-408" b="-408"/>
            </a:stretch>
          </a:blipFill>
        </p:spPr>
        <p:txBody>
          <a:bodyPr/>
          <a:lstStyle/>
          <a:p>
            <a:endParaRPr lang="en-ZA"/>
          </a:p>
        </p:txBody>
      </p:sp>
      <p:sp>
        <p:nvSpPr>
          <p:cNvPr id="3" name="TextBox 3"/>
          <p:cNvSpPr txBox="1"/>
          <p:nvPr/>
        </p:nvSpPr>
        <p:spPr>
          <a:xfrm>
            <a:off x="3356326" y="419735"/>
            <a:ext cx="10253662" cy="1008380"/>
          </a:xfrm>
          <a:prstGeom prst="rect">
            <a:avLst/>
          </a:prstGeom>
        </p:spPr>
        <p:txBody>
          <a:bodyPr lIns="0" tIns="0" rIns="0" bIns="0" rtlCol="0" anchor="t">
            <a:spAutoFit/>
          </a:bodyPr>
          <a:lstStyle/>
          <a:p>
            <a:pPr algn="ctr">
              <a:lnSpc>
                <a:spcPts val="7420"/>
              </a:lnSpc>
              <a:spcBef>
                <a:spcPct val="0"/>
              </a:spcBef>
            </a:pPr>
            <a:r>
              <a:rPr lang="en-US" sz="5300" b="1" i="1">
                <a:solidFill>
                  <a:srgbClr val="FEFEFD"/>
                </a:solidFill>
                <a:latin typeface="Times New Roman MT Bold Italics"/>
                <a:ea typeface="Times New Roman MT Bold Italics"/>
                <a:cs typeface="Times New Roman MT Bold Italics"/>
                <a:sym typeface="Times New Roman MT Bold Italics"/>
              </a:rPr>
              <a:t>SALES PER DAY OF THE WEEK</a:t>
            </a:r>
          </a:p>
        </p:txBody>
      </p:sp>
      <p:sp>
        <p:nvSpPr>
          <p:cNvPr id="4" name="TextBox 4"/>
          <p:cNvSpPr txBox="1"/>
          <p:nvPr/>
        </p:nvSpPr>
        <p:spPr>
          <a:xfrm>
            <a:off x="3349987" y="1342390"/>
            <a:ext cx="11147465" cy="810895"/>
          </a:xfrm>
          <a:prstGeom prst="rect">
            <a:avLst/>
          </a:prstGeom>
        </p:spPr>
        <p:txBody>
          <a:bodyPr lIns="0" tIns="0" rIns="0" bIns="0" rtlCol="0" anchor="t">
            <a:spAutoFit/>
          </a:bodyPr>
          <a:lstStyle/>
          <a:p>
            <a:pPr algn="ctr">
              <a:lnSpc>
                <a:spcPts val="3079"/>
              </a:lnSpc>
            </a:pPr>
            <a:r>
              <a:rPr lang="en-US" sz="2199" b="1" i="1">
                <a:solidFill>
                  <a:srgbClr val="000000"/>
                </a:solidFill>
                <a:latin typeface="Times New Roman MT Bold Italics"/>
                <a:ea typeface="Times New Roman MT Bold Italics"/>
                <a:cs typeface="Times New Roman MT Bold Italics"/>
                <a:sym typeface="Times New Roman MT Bold Italics"/>
              </a:rPr>
              <a:t>INSIGHT: </a:t>
            </a:r>
            <a:r>
              <a:rPr lang="en-US" sz="2199" b="1" i="1">
                <a:solidFill>
                  <a:srgbClr val="FEFEFD"/>
                </a:solidFill>
                <a:latin typeface="Times New Roman MT Bold Italics"/>
                <a:ea typeface="Times New Roman MT Bold Italics"/>
                <a:cs typeface="Times New Roman MT Bold Italics"/>
                <a:sym typeface="Times New Roman MT Bold Italics"/>
              </a:rPr>
              <a:t>FRIDAYS SOLD MORE COFFEE THAN THE OTHER DAYS OF THE WEEK</a:t>
            </a:r>
          </a:p>
          <a:p>
            <a:pPr algn="ctr">
              <a:lnSpc>
                <a:spcPts val="3079"/>
              </a:lnSpc>
              <a:spcBef>
                <a:spcPct val="0"/>
              </a:spcBef>
            </a:pPr>
            <a:r>
              <a:rPr lang="en-US" sz="2199" b="1" i="1">
                <a:solidFill>
                  <a:srgbClr val="FEFEFD"/>
                </a:solidFill>
                <a:latin typeface="Times New Roman MT Bold Italics"/>
                <a:ea typeface="Times New Roman MT Bold Italics"/>
                <a:cs typeface="Times New Roman MT Bold Italics"/>
                <a:sym typeface="Times New Roman MT Bold Italics"/>
              </a:rPr>
              <a:t>ASTORIA &amp;HELL’S KITCHEN SOLD ALMOST THE SAME NUMBER OF PRODUCTS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A96C51"/>
        </a:solidFill>
        <a:effectLst/>
      </p:bgPr>
    </p:bg>
    <p:spTree>
      <p:nvGrpSpPr>
        <p:cNvPr id="1" name=""/>
        <p:cNvGrpSpPr/>
        <p:nvPr/>
      </p:nvGrpSpPr>
      <p:grpSpPr>
        <a:xfrm>
          <a:off x="0" y="0"/>
          <a:ext cx="0" cy="0"/>
          <a:chOff x="0" y="0"/>
          <a:chExt cx="0" cy="0"/>
        </a:xfrm>
      </p:grpSpPr>
      <p:sp>
        <p:nvSpPr>
          <p:cNvPr id="2" name="Freeform 2"/>
          <p:cNvSpPr/>
          <p:nvPr/>
        </p:nvSpPr>
        <p:spPr>
          <a:xfrm>
            <a:off x="3293229" y="2581751"/>
            <a:ext cx="10989029" cy="6676549"/>
          </a:xfrm>
          <a:custGeom>
            <a:avLst/>
            <a:gdLst/>
            <a:ahLst/>
            <a:cxnLst/>
            <a:rect l="l" t="t" r="r" b="b"/>
            <a:pathLst>
              <a:path w="10989029" h="6676549">
                <a:moveTo>
                  <a:pt x="0" y="0"/>
                </a:moveTo>
                <a:lnTo>
                  <a:pt x="10989028" y="0"/>
                </a:lnTo>
                <a:lnTo>
                  <a:pt x="10989028" y="6676549"/>
                </a:lnTo>
                <a:lnTo>
                  <a:pt x="0" y="6676549"/>
                </a:lnTo>
                <a:lnTo>
                  <a:pt x="0" y="0"/>
                </a:lnTo>
                <a:close/>
              </a:path>
            </a:pathLst>
          </a:custGeom>
          <a:blipFill>
            <a:blip r:embed="rId2"/>
            <a:stretch>
              <a:fillRect/>
            </a:stretch>
          </a:blipFill>
        </p:spPr>
        <p:txBody>
          <a:bodyPr/>
          <a:lstStyle/>
          <a:p>
            <a:endParaRPr lang="en-ZA"/>
          </a:p>
        </p:txBody>
      </p:sp>
      <p:sp>
        <p:nvSpPr>
          <p:cNvPr id="3" name="TextBox 3"/>
          <p:cNvSpPr txBox="1"/>
          <p:nvPr/>
        </p:nvSpPr>
        <p:spPr>
          <a:xfrm>
            <a:off x="2696944" y="180335"/>
            <a:ext cx="12894112" cy="1008380"/>
          </a:xfrm>
          <a:prstGeom prst="rect">
            <a:avLst/>
          </a:prstGeom>
        </p:spPr>
        <p:txBody>
          <a:bodyPr lIns="0" tIns="0" rIns="0" bIns="0" rtlCol="0" anchor="t">
            <a:spAutoFit/>
          </a:bodyPr>
          <a:lstStyle/>
          <a:p>
            <a:pPr algn="ctr">
              <a:lnSpc>
                <a:spcPts val="7420"/>
              </a:lnSpc>
              <a:spcBef>
                <a:spcPct val="0"/>
              </a:spcBef>
            </a:pPr>
            <a:r>
              <a:rPr lang="en-US" sz="5300" b="1" i="1">
                <a:solidFill>
                  <a:srgbClr val="FEFEFD"/>
                </a:solidFill>
                <a:latin typeface="Times New Roman MT Bold Italics"/>
                <a:ea typeface="Times New Roman MT Bold Italics"/>
                <a:cs typeface="Times New Roman MT Bold Italics"/>
                <a:sym typeface="Times New Roman MT Bold Italics"/>
              </a:rPr>
              <a:t>TOTAL PERCENTAGE SALES BY STORE</a:t>
            </a:r>
          </a:p>
        </p:txBody>
      </p:sp>
      <p:sp>
        <p:nvSpPr>
          <p:cNvPr id="4" name="TextBox 4"/>
          <p:cNvSpPr txBox="1"/>
          <p:nvPr/>
        </p:nvSpPr>
        <p:spPr>
          <a:xfrm>
            <a:off x="0" y="1400093"/>
            <a:ext cx="18067719" cy="810895"/>
          </a:xfrm>
          <a:prstGeom prst="rect">
            <a:avLst/>
          </a:prstGeom>
        </p:spPr>
        <p:txBody>
          <a:bodyPr lIns="0" tIns="0" rIns="0" bIns="0" rtlCol="0" anchor="t">
            <a:spAutoFit/>
          </a:bodyPr>
          <a:lstStyle/>
          <a:p>
            <a:pPr algn="ctr">
              <a:lnSpc>
                <a:spcPts val="3079"/>
              </a:lnSpc>
            </a:pPr>
            <a:r>
              <a:rPr lang="en-US" sz="2199" b="1" i="1">
                <a:solidFill>
                  <a:srgbClr val="000000"/>
                </a:solidFill>
                <a:latin typeface="Times New Roman MT Bold Italics"/>
                <a:ea typeface="Times New Roman MT Bold Italics"/>
                <a:cs typeface="Times New Roman MT Bold Italics"/>
                <a:sym typeface="Times New Roman MT Bold Italics"/>
              </a:rPr>
              <a:t>INSIGHT: </a:t>
            </a:r>
            <a:r>
              <a:rPr lang="en-US" sz="2199" b="1" i="1">
                <a:solidFill>
                  <a:srgbClr val="FEFEFD"/>
                </a:solidFill>
                <a:latin typeface="Times New Roman MT Bold Italics"/>
                <a:ea typeface="Times New Roman MT Bold Italics"/>
                <a:cs typeface="Times New Roman MT Bold Italics"/>
                <a:sym typeface="Times New Roman MT Bold Italics"/>
              </a:rPr>
              <a:t>LOWER MANHATTAN SOLD THE LEAST NUMBER OF PRODUCTS.</a:t>
            </a:r>
          </a:p>
          <a:p>
            <a:pPr algn="ctr">
              <a:lnSpc>
                <a:spcPts val="3079"/>
              </a:lnSpc>
              <a:spcBef>
                <a:spcPct val="0"/>
              </a:spcBef>
            </a:pPr>
            <a:r>
              <a:rPr lang="en-US" sz="2199" b="1" i="1">
                <a:solidFill>
                  <a:srgbClr val="FEFEFD"/>
                </a:solidFill>
                <a:latin typeface="Times New Roman MT Bold Italics"/>
                <a:ea typeface="Times New Roman MT Bold Italics"/>
                <a:cs typeface="Times New Roman MT Bold Italics"/>
                <a:sym typeface="Times New Roman MT Bold Italics"/>
              </a:rPr>
              <a:t>POPULATION AROUND LOWER MANHATTAN NEEDS TO BE LOOKED INTO TO UNDERSTAND THEIR SPENDING PATTERN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A96C51"/>
        </a:solidFill>
        <a:effectLst/>
      </p:bgPr>
    </p:bg>
    <p:spTree>
      <p:nvGrpSpPr>
        <p:cNvPr id="1" name=""/>
        <p:cNvGrpSpPr/>
        <p:nvPr/>
      </p:nvGrpSpPr>
      <p:grpSpPr>
        <a:xfrm>
          <a:off x="0" y="0"/>
          <a:ext cx="0" cy="0"/>
          <a:chOff x="0" y="0"/>
          <a:chExt cx="0" cy="0"/>
        </a:xfrm>
      </p:grpSpPr>
      <p:sp>
        <p:nvSpPr>
          <p:cNvPr id="2" name="Freeform 2"/>
          <p:cNvSpPr/>
          <p:nvPr/>
        </p:nvSpPr>
        <p:spPr>
          <a:xfrm>
            <a:off x="2775998" y="2923379"/>
            <a:ext cx="12191743" cy="6995501"/>
          </a:xfrm>
          <a:custGeom>
            <a:avLst/>
            <a:gdLst/>
            <a:ahLst/>
            <a:cxnLst/>
            <a:rect l="l" t="t" r="r" b="b"/>
            <a:pathLst>
              <a:path w="12191743" h="6995501">
                <a:moveTo>
                  <a:pt x="0" y="0"/>
                </a:moveTo>
                <a:lnTo>
                  <a:pt x="12191743" y="0"/>
                </a:lnTo>
                <a:lnTo>
                  <a:pt x="12191743" y="6995501"/>
                </a:lnTo>
                <a:lnTo>
                  <a:pt x="0" y="6995501"/>
                </a:lnTo>
                <a:lnTo>
                  <a:pt x="0" y="0"/>
                </a:lnTo>
                <a:close/>
              </a:path>
            </a:pathLst>
          </a:custGeom>
          <a:blipFill>
            <a:blip r:embed="rId2"/>
            <a:stretch>
              <a:fillRect t="-4408"/>
            </a:stretch>
          </a:blipFill>
        </p:spPr>
        <p:txBody>
          <a:bodyPr/>
          <a:lstStyle/>
          <a:p>
            <a:endParaRPr lang="en-ZA"/>
          </a:p>
        </p:txBody>
      </p:sp>
      <p:sp>
        <p:nvSpPr>
          <p:cNvPr id="3" name="TextBox 3"/>
          <p:cNvSpPr txBox="1"/>
          <p:nvPr/>
        </p:nvSpPr>
        <p:spPr>
          <a:xfrm>
            <a:off x="1382100" y="419735"/>
            <a:ext cx="14466451" cy="1008380"/>
          </a:xfrm>
          <a:prstGeom prst="rect">
            <a:avLst/>
          </a:prstGeom>
        </p:spPr>
        <p:txBody>
          <a:bodyPr lIns="0" tIns="0" rIns="0" bIns="0" rtlCol="0" anchor="t">
            <a:spAutoFit/>
          </a:bodyPr>
          <a:lstStyle/>
          <a:p>
            <a:pPr algn="ctr">
              <a:lnSpc>
                <a:spcPts val="7420"/>
              </a:lnSpc>
              <a:spcBef>
                <a:spcPct val="0"/>
              </a:spcBef>
            </a:pPr>
            <a:r>
              <a:rPr lang="en-US" sz="5300" b="1" i="1">
                <a:solidFill>
                  <a:srgbClr val="FEFEFD"/>
                </a:solidFill>
                <a:latin typeface="Times New Roman MT Bold Italics"/>
                <a:ea typeface="Times New Roman MT Bold Italics"/>
                <a:cs typeface="Times New Roman MT Bold Italics"/>
                <a:sym typeface="Times New Roman MT Bold Italics"/>
              </a:rPr>
              <a:t>MONTHLY SALES BY PRODUCT CATEGORY</a:t>
            </a:r>
          </a:p>
        </p:txBody>
      </p:sp>
      <p:sp>
        <p:nvSpPr>
          <p:cNvPr id="4" name="TextBox 4"/>
          <p:cNvSpPr txBox="1"/>
          <p:nvPr/>
        </p:nvSpPr>
        <p:spPr>
          <a:xfrm>
            <a:off x="0" y="1331434"/>
            <a:ext cx="15600572" cy="1591945"/>
          </a:xfrm>
          <a:prstGeom prst="rect">
            <a:avLst/>
          </a:prstGeom>
        </p:spPr>
        <p:txBody>
          <a:bodyPr lIns="0" tIns="0" rIns="0" bIns="0" rtlCol="0" anchor="t">
            <a:spAutoFit/>
          </a:bodyPr>
          <a:lstStyle/>
          <a:p>
            <a:pPr algn="ctr">
              <a:lnSpc>
                <a:spcPts val="3079"/>
              </a:lnSpc>
            </a:pPr>
            <a:r>
              <a:rPr lang="en-US" sz="2199" b="1" i="1">
                <a:solidFill>
                  <a:srgbClr val="000000"/>
                </a:solidFill>
                <a:latin typeface="Times New Roman MT Bold Italics"/>
                <a:ea typeface="Times New Roman MT Bold Italics"/>
                <a:cs typeface="Times New Roman MT Bold Italics"/>
                <a:sym typeface="Times New Roman MT Bold Italics"/>
              </a:rPr>
              <a:t>INSIGHT:  </a:t>
            </a:r>
            <a:r>
              <a:rPr lang="en-US" sz="2199" b="1" i="1">
                <a:solidFill>
                  <a:srgbClr val="FEFEFD"/>
                </a:solidFill>
                <a:latin typeface="Times New Roman MT Bold Italics"/>
                <a:ea typeface="Times New Roman MT Bold Italics"/>
                <a:cs typeface="Times New Roman MT Bold Italics"/>
                <a:sym typeface="Times New Roman MT Bold Italics"/>
              </a:rPr>
              <a:t>JAMAICAN COFFEE RIVER AND I NEED MY BEAN DINER MUG  ARE THE LEAST SELLING PRODUCT CATEGORY.</a:t>
            </a:r>
          </a:p>
          <a:p>
            <a:pPr algn="ctr">
              <a:lnSpc>
                <a:spcPts val="3079"/>
              </a:lnSpc>
              <a:spcBef>
                <a:spcPct val="0"/>
              </a:spcBef>
            </a:pPr>
            <a:r>
              <a:rPr lang="en-US" sz="2199" b="1" i="1">
                <a:solidFill>
                  <a:srgbClr val="FEFEFD"/>
                </a:solidFill>
                <a:latin typeface="Times New Roman MT Bold Italics"/>
                <a:ea typeface="Times New Roman MT Bold Italics"/>
                <a:cs typeface="Times New Roman MT Bold Italics"/>
                <a:sym typeface="Times New Roman MT Bold Italics"/>
              </a:rPr>
              <a:t>PROMOTIONS ARE RECOMMENDED ON JAMAICAN COFFEE RIVER AND I NEED MY BEAN DINER MUG TO INCREASE THEIR SALES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A96C51"/>
        </a:solidFill>
        <a:effectLst/>
      </p:bgPr>
    </p:bg>
    <p:spTree>
      <p:nvGrpSpPr>
        <p:cNvPr id="1" name=""/>
        <p:cNvGrpSpPr/>
        <p:nvPr/>
      </p:nvGrpSpPr>
      <p:grpSpPr>
        <a:xfrm>
          <a:off x="0" y="0"/>
          <a:ext cx="0" cy="0"/>
          <a:chOff x="0" y="0"/>
          <a:chExt cx="0" cy="0"/>
        </a:xfrm>
      </p:grpSpPr>
      <p:sp>
        <p:nvSpPr>
          <p:cNvPr id="2" name="Freeform 2"/>
          <p:cNvSpPr/>
          <p:nvPr/>
        </p:nvSpPr>
        <p:spPr>
          <a:xfrm>
            <a:off x="2345381" y="2160587"/>
            <a:ext cx="12514388" cy="8126413"/>
          </a:xfrm>
          <a:custGeom>
            <a:avLst/>
            <a:gdLst/>
            <a:ahLst/>
            <a:cxnLst/>
            <a:rect l="l" t="t" r="r" b="b"/>
            <a:pathLst>
              <a:path w="12514388" h="8126413">
                <a:moveTo>
                  <a:pt x="0" y="0"/>
                </a:moveTo>
                <a:lnTo>
                  <a:pt x="12514388" y="0"/>
                </a:lnTo>
                <a:lnTo>
                  <a:pt x="12514388" y="8126413"/>
                </a:lnTo>
                <a:lnTo>
                  <a:pt x="0" y="8126413"/>
                </a:lnTo>
                <a:lnTo>
                  <a:pt x="0" y="0"/>
                </a:lnTo>
                <a:close/>
              </a:path>
            </a:pathLst>
          </a:custGeom>
          <a:blipFill>
            <a:blip r:embed="rId2"/>
            <a:stretch>
              <a:fillRect l="-1247" t="-16760" r="-1247"/>
            </a:stretch>
          </a:blipFill>
        </p:spPr>
        <p:txBody>
          <a:bodyPr/>
          <a:lstStyle/>
          <a:p>
            <a:endParaRPr lang="en-ZA"/>
          </a:p>
        </p:txBody>
      </p:sp>
      <p:sp>
        <p:nvSpPr>
          <p:cNvPr id="3" name="TextBox 3"/>
          <p:cNvSpPr txBox="1"/>
          <p:nvPr/>
        </p:nvSpPr>
        <p:spPr>
          <a:xfrm>
            <a:off x="1577871" y="261085"/>
            <a:ext cx="13281899" cy="1008380"/>
          </a:xfrm>
          <a:prstGeom prst="rect">
            <a:avLst/>
          </a:prstGeom>
        </p:spPr>
        <p:txBody>
          <a:bodyPr lIns="0" tIns="0" rIns="0" bIns="0" rtlCol="0" anchor="t">
            <a:spAutoFit/>
          </a:bodyPr>
          <a:lstStyle/>
          <a:p>
            <a:pPr algn="ctr">
              <a:lnSpc>
                <a:spcPts val="7420"/>
              </a:lnSpc>
              <a:spcBef>
                <a:spcPct val="0"/>
              </a:spcBef>
            </a:pPr>
            <a:r>
              <a:rPr lang="en-US" sz="5300" b="1" i="1">
                <a:solidFill>
                  <a:srgbClr val="FEFEFD"/>
                </a:solidFill>
                <a:latin typeface="Times New Roman MT Bold Italics"/>
                <a:ea typeface="Times New Roman MT Bold Italics"/>
                <a:cs typeface="Times New Roman MT Bold Italics"/>
                <a:sym typeface="Times New Roman MT Bold Italics"/>
              </a:rPr>
              <a:t>MONTHLY SALES BY PRODUCT DETAIL</a:t>
            </a:r>
          </a:p>
        </p:txBody>
      </p:sp>
      <p:sp>
        <p:nvSpPr>
          <p:cNvPr id="4" name="TextBox 4"/>
          <p:cNvSpPr txBox="1"/>
          <p:nvPr/>
        </p:nvSpPr>
        <p:spPr>
          <a:xfrm>
            <a:off x="1577871" y="1183740"/>
            <a:ext cx="13133070" cy="810895"/>
          </a:xfrm>
          <a:prstGeom prst="rect">
            <a:avLst/>
          </a:prstGeom>
        </p:spPr>
        <p:txBody>
          <a:bodyPr lIns="0" tIns="0" rIns="0" bIns="0" rtlCol="0" anchor="t">
            <a:spAutoFit/>
          </a:bodyPr>
          <a:lstStyle/>
          <a:p>
            <a:pPr algn="ctr">
              <a:lnSpc>
                <a:spcPts val="3079"/>
              </a:lnSpc>
            </a:pPr>
            <a:r>
              <a:rPr lang="en-US" sz="2199" b="1" i="1">
                <a:solidFill>
                  <a:srgbClr val="000000"/>
                </a:solidFill>
                <a:latin typeface="Times New Roman MT Bold Italics"/>
                <a:ea typeface="Times New Roman MT Bold Italics"/>
                <a:cs typeface="Times New Roman MT Bold Italics"/>
                <a:sym typeface="Times New Roman MT Bold Italics"/>
              </a:rPr>
              <a:t>INSIGHT:</a:t>
            </a:r>
            <a:r>
              <a:rPr lang="en-US" sz="2199" b="1" i="1">
                <a:solidFill>
                  <a:srgbClr val="FEFEFD"/>
                </a:solidFill>
                <a:latin typeface="Times New Roman MT Bold Italics"/>
                <a:ea typeface="Times New Roman MT Bold Italics"/>
                <a:cs typeface="Times New Roman MT Bold Italics"/>
                <a:sym typeface="Times New Roman MT Bold Italics"/>
              </a:rPr>
              <a:t>BAKERY, COFFEE AND TEA ARE THE MOST SELLING PRODUCTS. </a:t>
            </a:r>
          </a:p>
          <a:p>
            <a:pPr algn="ctr">
              <a:lnSpc>
                <a:spcPts val="3079"/>
              </a:lnSpc>
              <a:spcBef>
                <a:spcPct val="0"/>
              </a:spcBef>
            </a:pPr>
            <a:r>
              <a:rPr lang="en-US" sz="2199" b="1" i="1">
                <a:solidFill>
                  <a:srgbClr val="FEFEFD"/>
                </a:solidFill>
                <a:latin typeface="Times New Roman MT Bold Italics"/>
                <a:ea typeface="Times New Roman MT Bold Italics"/>
                <a:cs typeface="Times New Roman MT Bold Italics"/>
                <a:sym typeface="Times New Roman MT Bold Italics"/>
              </a:rPr>
              <a:t>A REVIEW FOR ALL PRODUCTS AND DECIDE IF THEY NEED TO BE PROMOTED OF FACED OUT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A96C51"/>
        </a:solidFill>
        <a:effectLst/>
      </p:bgPr>
    </p:bg>
    <p:spTree>
      <p:nvGrpSpPr>
        <p:cNvPr id="1" name=""/>
        <p:cNvGrpSpPr/>
        <p:nvPr/>
      </p:nvGrpSpPr>
      <p:grpSpPr>
        <a:xfrm>
          <a:off x="0" y="0"/>
          <a:ext cx="0" cy="0"/>
          <a:chOff x="0" y="0"/>
          <a:chExt cx="0" cy="0"/>
        </a:xfrm>
      </p:grpSpPr>
      <p:sp>
        <p:nvSpPr>
          <p:cNvPr id="2" name="TextBox 2"/>
          <p:cNvSpPr txBox="1"/>
          <p:nvPr/>
        </p:nvSpPr>
        <p:spPr>
          <a:xfrm>
            <a:off x="384981" y="261085"/>
            <a:ext cx="3596283" cy="1008380"/>
          </a:xfrm>
          <a:prstGeom prst="rect">
            <a:avLst/>
          </a:prstGeom>
        </p:spPr>
        <p:txBody>
          <a:bodyPr lIns="0" tIns="0" rIns="0" bIns="0" rtlCol="0" anchor="t">
            <a:spAutoFit/>
          </a:bodyPr>
          <a:lstStyle/>
          <a:p>
            <a:pPr algn="ctr">
              <a:lnSpc>
                <a:spcPts val="7420"/>
              </a:lnSpc>
              <a:spcBef>
                <a:spcPct val="0"/>
              </a:spcBef>
            </a:pPr>
            <a:r>
              <a:rPr lang="en-US" sz="5300" b="1" i="1">
                <a:solidFill>
                  <a:srgbClr val="000000"/>
                </a:solidFill>
                <a:latin typeface="Times New Roman MT Bold Italics"/>
                <a:ea typeface="Times New Roman MT Bold Italics"/>
                <a:cs typeface="Times New Roman MT Bold Italics"/>
                <a:sym typeface="Times New Roman MT Bold Italics"/>
              </a:rPr>
              <a:t>FINDINGS:</a:t>
            </a:r>
          </a:p>
        </p:txBody>
      </p:sp>
      <p:sp>
        <p:nvSpPr>
          <p:cNvPr id="3" name="TextBox 3"/>
          <p:cNvSpPr txBox="1"/>
          <p:nvPr/>
        </p:nvSpPr>
        <p:spPr>
          <a:xfrm>
            <a:off x="2019070" y="952500"/>
            <a:ext cx="10591443" cy="500380"/>
          </a:xfrm>
          <a:prstGeom prst="rect">
            <a:avLst/>
          </a:prstGeom>
        </p:spPr>
        <p:txBody>
          <a:bodyPr lIns="0" tIns="0" rIns="0" bIns="0" rtlCol="0" anchor="t">
            <a:spAutoFit/>
          </a:bodyPr>
          <a:lstStyle/>
          <a:p>
            <a:pPr marL="604519" lvl="1" indent="-302260" algn="l">
              <a:lnSpc>
                <a:spcPts val="3919"/>
              </a:lnSpc>
              <a:buAutoNum type="arabicPeriod"/>
            </a:pPr>
            <a:r>
              <a:rPr lang="en-US" sz="2799" b="1" i="1">
                <a:solidFill>
                  <a:srgbClr val="000000"/>
                </a:solidFill>
                <a:latin typeface="Times New Roman Bold Italics"/>
                <a:ea typeface="Times New Roman Bold Italics"/>
                <a:cs typeface="Times New Roman Bold Italics"/>
                <a:sym typeface="Times New Roman Bold Italics"/>
              </a:rPr>
              <a:t>All stores had an increase in their sales with June being the highets </a:t>
            </a:r>
          </a:p>
        </p:txBody>
      </p:sp>
      <p:sp>
        <p:nvSpPr>
          <p:cNvPr id="4" name="TextBox 4"/>
          <p:cNvSpPr txBox="1"/>
          <p:nvPr/>
        </p:nvSpPr>
        <p:spPr>
          <a:xfrm>
            <a:off x="2019070" y="1729105"/>
            <a:ext cx="9694545" cy="500380"/>
          </a:xfrm>
          <a:prstGeom prst="rect">
            <a:avLst/>
          </a:prstGeom>
        </p:spPr>
        <p:txBody>
          <a:bodyPr lIns="0" tIns="0" rIns="0" bIns="0" rtlCol="0" anchor="t">
            <a:spAutoFit/>
          </a:bodyPr>
          <a:lstStyle/>
          <a:p>
            <a:pPr marL="604519" lvl="1" indent="-302260" algn="l">
              <a:lnSpc>
                <a:spcPts val="3919"/>
              </a:lnSpc>
              <a:buAutoNum type="arabicPeriod"/>
            </a:pPr>
            <a:r>
              <a:rPr lang="en-US" sz="2799" b="1" i="1">
                <a:solidFill>
                  <a:srgbClr val="000000"/>
                </a:solidFill>
                <a:latin typeface="Times New Roman Bold Italics"/>
                <a:ea typeface="Times New Roman Bold Italics"/>
                <a:cs typeface="Times New Roman Bold Italics"/>
                <a:sym typeface="Times New Roman Bold Italics"/>
              </a:rPr>
              <a:t>Hell’s Kitchen is the highest selling store between the 3 stores </a:t>
            </a:r>
          </a:p>
        </p:txBody>
      </p:sp>
      <p:sp>
        <p:nvSpPr>
          <p:cNvPr id="5" name="TextBox 5"/>
          <p:cNvSpPr txBox="1"/>
          <p:nvPr/>
        </p:nvSpPr>
        <p:spPr>
          <a:xfrm>
            <a:off x="2284690" y="2505710"/>
            <a:ext cx="14974610" cy="500380"/>
          </a:xfrm>
          <a:prstGeom prst="rect">
            <a:avLst/>
          </a:prstGeom>
        </p:spPr>
        <p:txBody>
          <a:bodyPr lIns="0" tIns="0" rIns="0" bIns="0" rtlCol="0" anchor="t">
            <a:spAutoFit/>
          </a:bodyPr>
          <a:lstStyle/>
          <a:p>
            <a:pPr algn="l">
              <a:lnSpc>
                <a:spcPts val="3919"/>
              </a:lnSpc>
            </a:pPr>
            <a:r>
              <a:rPr lang="en-US" sz="2799" b="1" i="1">
                <a:solidFill>
                  <a:srgbClr val="000000"/>
                </a:solidFill>
                <a:latin typeface="Times New Roman Bold Italics"/>
                <a:ea typeface="Times New Roman Bold Italics"/>
                <a:cs typeface="Times New Roman Bold Italics"/>
                <a:sym typeface="Times New Roman Bold Italics"/>
              </a:rPr>
              <a:t>3.Jamaican coffee river &amp;I need my Bean river mug are the least selling product category at all stores </a:t>
            </a:r>
          </a:p>
        </p:txBody>
      </p:sp>
      <p:sp>
        <p:nvSpPr>
          <p:cNvPr id="6" name="TextBox 6"/>
          <p:cNvSpPr txBox="1"/>
          <p:nvPr/>
        </p:nvSpPr>
        <p:spPr>
          <a:xfrm>
            <a:off x="1946790" y="3282315"/>
            <a:ext cx="11169015" cy="500380"/>
          </a:xfrm>
          <a:prstGeom prst="rect">
            <a:avLst/>
          </a:prstGeom>
        </p:spPr>
        <p:txBody>
          <a:bodyPr lIns="0" tIns="0" rIns="0" bIns="0" rtlCol="0" anchor="t">
            <a:spAutoFit/>
          </a:bodyPr>
          <a:lstStyle/>
          <a:p>
            <a:pPr marL="604519" lvl="1" indent="-302260" algn="l">
              <a:lnSpc>
                <a:spcPts val="3919"/>
              </a:lnSpc>
              <a:buAutoNum type="arabicPeriod"/>
            </a:pPr>
            <a:r>
              <a:rPr lang="en-US" sz="2799" b="1" i="1">
                <a:solidFill>
                  <a:srgbClr val="000000"/>
                </a:solidFill>
                <a:latin typeface="Times New Roman Bold Italics"/>
                <a:ea typeface="Times New Roman Bold Italics"/>
                <a:cs typeface="Times New Roman Bold Italics"/>
                <a:sym typeface="Times New Roman Bold Italics"/>
              </a:rPr>
              <a:t>Bakery, Coffee &amp; Tea are the top selling product details at all our stores </a:t>
            </a:r>
          </a:p>
        </p:txBody>
      </p:sp>
      <p:sp>
        <p:nvSpPr>
          <p:cNvPr id="7" name="TextBox 7"/>
          <p:cNvSpPr txBox="1"/>
          <p:nvPr/>
        </p:nvSpPr>
        <p:spPr>
          <a:xfrm>
            <a:off x="1946790" y="4058920"/>
            <a:ext cx="8121611" cy="500380"/>
          </a:xfrm>
          <a:prstGeom prst="rect">
            <a:avLst/>
          </a:prstGeom>
        </p:spPr>
        <p:txBody>
          <a:bodyPr lIns="0" tIns="0" rIns="0" bIns="0" rtlCol="0" anchor="t">
            <a:spAutoFit/>
          </a:bodyPr>
          <a:lstStyle/>
          <a:p>
            <a:pPr marL="604519" lvl="1" indent="-302260" algn="l">
              <a:lnSpc>
                <a:spcPts val="3919"/>
              </a:lnSpc>
              <a:buAutoNum type="arabicPeriod"/>
            </a:pPr>
            <a:r>
              <a:rPr lang="en-US" sz="2799" b="1" i="1">
                <a:solidFill>
                  <a:srgbClr val="000000"/>
                </a:solidFill>
                <a:latin typeface="Times New Roman Bold Italics"/>
                <a:ea typeface="Times New Roman Bold Italics"/>
                <a:cs typeface="Times New Roman Bold Italics"/>
                <a:sym typeface="Times New Roman Bold Italics"/>
              </a:rPr>
              <a:t>All our stores sold more than 30% of their products</a:t>
            </a:r>
          </a:p>
        </p:txBody>
      </p:sp>
      <p:sp>
        <p:nvSpPr>
          <p:cNvPr id="8" name="TextBox 8"/>
          <p:cNvSpPr txBox="1"/>
          <p:nvPr/>
        </p:nvSpPr>
        <p:spPr>
          <a:xfrm>
            <a:off x="0" y="4702175"/>
            <a:ext cx="7429730" cy="1008380"/>
          </a:xfrm>
          <a:prstGeom prst="rect">
            <a:avLst/>
          </a:prstGeom>
        </p:spPr>
        <p:txBody>
          <a:bodyPr lIns="0" tIns="0" rIns="0" bIns="0" rtlCol="0" anchor="t">
            <a:spAutoFit/>
          </a:bodyPr>
          <a:lstStyle/>
          <a:p>
            <a:pPr algn="ctr">
              <a:lnSpc>
                <a:spcPts val="7420"/>
              </a:lnSpc>
              <a:spcBef>
                <a:spcPct val="0"/>
              </a:spcBef>
            </a:pPr>
            <a:r>
              <a:rPr lang="en-US" sz="5300" b="1" i="1">
                <a:solidFill>
                  <a:srgbClr val="000000"/>
                </a:solidFill>
                <a:latin typeface="Times New Roman MT Bold Italics"/>
                <a:ea typeface="Times New Roman MT Bold Italics"/>
                <a:cs typeface="Times New Roman MT Bold Italics"/>
                <a:sym typeface="Times New Roman MT Bold Italics"/>
              </a:rPr>
              <a:t>RECOMMENDATIONS</a:t>
            </a:r>
          </a:p>
        </p:txBody>
      </p:sp>
      <p:sp>
        <p:nvSpPr>
          <p:cNvPr id="9" name="TextBox 9"/>
          <p:cNvSpPr txBox="1"/>
          <p:nvPr/>
        </p:nvSpPr>
        <p:spPr>
          <a:xfrm>
            <a:off x="1845223" y="5793453"/>
            <a:ext cx="12888992" cy="500380"/>
          </a:xfrm>
          <a:prstGeom prst="rect">
            <a:avLst/>
          </a:prstGeom>
        </p:spPr>
        <p:txBody>
          <a:bodyPr lIns="0" tIns="0" rIns="0" bIns="0" rtlCol="0" anchor="t">
            <a:spAutoFit/>
          </a:bodyPr>
          <a:lstStyle/>
          <a:p>
            <a:pPr marL="604519" lvl="1" indent="-302260" algn="l">
              <a:lnSpc>
                <a:spcPts val="3919"/>
              </a:lnSpc>
              <a:buAutoNum type="arabicPeriod"/>
            </a:pPr>
            <a:r>
              <a:rPr lang="en-US" sz="2799" b="1" i="1">
                <a:solidFill>
                  <a:srgbClr val="000000"/>
                </a:solidFill>
                <a:latin typeface="Times New Roman Bold Italics"/>
                <a:ea typeface="Times New Roman Bold Italics"/>
                <a:cs typeface="Times New Roman Bold Italics"/>
                <a:sym typeface="Times New Roman Bold Italics"/>
              </a:rPr>
              <a:t>To run promotion on weekend to atracts more customer and increase sales in return</a:t>
            </a:r>
          </a:p>
        </p:txBody>
      </p:sp>
      <p:sp>
        <p:nvSpPr>
          <p:cNvPr id="10" name="TextBox 10"/>
          <p:cNvSpPr txBox="1"/>
          <p:nvPr/>
        </p:nvSpPr>
        <p:spPr>
          <a:xfrm>
            <a:off x="1845223" y="6379558"/>
            <a:ext cx="16442777" cy="995680"/>
          </a:xfrm>
          <a:prstGeom prst="rect">
            <a:avLst/>
          </a:prstGeom>
        </p:spPr>
        <p:txBody>
          <a:bodyPr lIns="0" tIns="0" rIns="0" bIns="0" rtlCol="0" anchor="t">
            <a:spAutoFit/>
          </a:bodyPr>
          <a:lstStyle/>
          <a:p>
            <a:pPr marL="604519" lvl="1" indent="-302260" algn="l">
              <a:lnSpc>
                <a:spcPts val="3919"/>
              </a:lnSpc>
              <a:buAutoNum type="arabicPeriod"/>
            </a:pPr>
            <a:r>
              <a:rPr lang="en-US" sz="2799" b="1" i="1">
                <a:solidFill>
                  <a:srgbClr val="000000"/>
                </a:solidFill>
                <a:latin typeface="Times New Roman Bold Italics"/>
                <a:ea typeface="Times New Roman Bold Italics"/>
                <a:cs typeface="Times New Roman Bold Italics"/>
                <a:sym typeface="Times New Roman Bold Italics"/>
              </a:rPr>
              <a:t>Take a decision on Jamaican coffee river &amp; I need my Bean river mug product category, to keep them or discontinue as they are the worst selling category.</a:t>
            </a:r>
          </a:p>
        </p:txBody>
      </p:sp>
      <p:sp>
        <p:nvSpPr>
          <p:cNvPr id="11" name="TextBox 11"/>
          <p:cNvSpPr txBox="1"/>
          <p:nvPr/>
        </p:nvSpPr>
        <p:spPr>
          <a:xfrm>
            <a:off x="1845223" y="7460964"/>
            <a:ext cx="16542555" cy="1490980"/>
          </a:xfrm>
          <a:prstGeom prst="rect">
            <a:avLst/>
          </a:prstGeom>
        </p:spPr>
        <p:txBody>
          <a:bodyPr lIns="0" tIns="0" rIns="0" bIns="0" rtlCol="0" anchor="t">
            <a:spAutoFit/>
          </a:bodyPr>
          <a:lstStyle/>
          <a:p>
            <a:pPr marL="604519" lvl="1" indent="-302260" algn="l">
              <a:lnSpc>
                <a:spcPts val="3919"/>
              </a:lnSpc>
              <a:buAutoNum type="arabicPeriod"/>
            </a:pPr>
            <a:r>
              <a:rPr lang="en-US" sz="2799" b="1" i="1">
                <a:solidFill>
                  <a:srgbClr val="000000"/>
                </a:solidFill>
                <a:latin typeface="Times New Roman Bold Italics"/>
                <a:ea typeface="Times New Roman Bold Italics"/>
                <a:cs typeface="Times New Roman Bold Italics"/>
                <a:sym typeface="Times New Roman Bold Italics"/>
              </a:rPr>
              <a:t>To do a research to get a number of people around Low Manhatten to use that info against the sales, to determine if the population count play a role in their low number of sales or if it is the store than need to up theirgame. </a:t>
            </a:r>
          </a:p>
        </p:txBody>
      </p:sp>
      <p:sp>
        <p:nvSpPr>
          <p:cNvPr id="12" name="TextBox 12"/>
          <p:cNvSpPr txBox="1"/>
          <p:nvPr/>
        </p:nvSpPr>
        <p:spPr>
          <a:xfrm>
            <a:off x="1845223" y="8970010"/>
            <a:ext cx="13415962" cy="500380"/>
          </a:xfrm>
          <a:prstGeom prst="rect">
            <a:avLst/>
          </a:prstGeom>
        </p:spPr>
        <p:txBody>
          <a:bodyPr lIns="0" tIns="0" rIns="0" bIns="0" rtlCol="0" anchor="t">
            <a:spAutoFit/>
          </a:bodyPr>
          <a:lstStyle/>
          <a:p>
            <a:pPr marL="604519" lvl="1" indent="-302260" algn="l">
              <a:lnSpc>
                <a:spcPts val="3919"/>
              </a:lnSpc>
              <a:buAutoNum type="arabicPeriod"/>
            </a:pPr>
            <a:r>
              <a:rPr lang="en-US" sz="2799" b="1" i="1">
                <a:solidFill>
                  <a:srgbClr val="000000"/>
                </a:solidFill>
                <a:latin typeface="Times New Roman Bold Italics"/>
                <a:ea typeface="Times New Roman Bold Italics"/>
                <a:cs typeface="Times New Roman Bold Italics"/>
                <a:sym typeface="Times New Roman Bold Italics"/>
              </a:rPr>
              <a:t>Spend  a 5% of sales revenue to support the community &amp; they will support us in return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A96C51"/>
        </a:solidFill>
        <a:effectLst/>
      </p:bgPr>
    </p:bg>
    <p:spTree>
      <p:nvGrpSpPr>
        <p:cNvPr id="1" name=""/>
        <p:cNvGrpSpPr/>
        <p:nvPr/>
      </p:nvGrpSpPr>
      <p:grpSpPr>
        <a:xfrm>
          <a:off x="0" y="0"/>
          <a:ext cx="0" cy="0"/>
          <a:chOff x="0" y="0"/>
          <a:chExt cx="0" cy="0"/>
        </a:xfrm>
      </p:grpSpPr>
      <p:sp>
        <p:nvSpPr>
          <p:cNvPr id="2" name="TextBox 2"/>
          <p:cNvSpPr txBox="1"/>
          <p:nvPr/>
        </p:nvSpPr>
        <p:spPr>
          <a:xfrm>
            <a:off x="5378665" y="3378737"/>
            <a:ext cx="6297096" cy="991235"/>
          </a:xfrm>
          <a:prstGeom prst="rect">
            <a:avLst/>
          </a:prstGeom>
        </p:spPr>
        <p:txBody>
          <a:bodyPr lIns="0" tIns="0" rIns="0" bIns="0" rtlCol="0" anchor="t">
            <a:spAutoFit/>
          </a:bodyPr>
          <a:lstStyle/>
          <a:p>
            <a:pPr algn="ctr">
              <a:lnSpc>
                <a:spcPts val="7840"/>
              </a:lnSpc>
              <a:spcBef>
                <a:spcPct val="0"/>
              </a:spcBef>
            </a:pPr>
            <a:r>
              <a:rPr lang="en-US" sz="5600" b="1" i="1">
                <a:solidFill>
                  <a:srgbClr val="000000"/>
                </a:solidFill>
                <a:latin typeface="Times New Roman Bold Italics"/>
                <a:ea typeface="Times New Roman Bold Italics"/>
                <a:cs typeface="Times New Roman Bold Italics"/>
                <a:sym typeface="Times New Roman Bold Italics"/>
              </a:rPr>
              <a:t>Questions &amp; Answers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613</Words>
  <Application>Microsoft Office PowerPoint</Application>
  <PresentationFormat>Custom</PresentationFormat>
  <Paragraphs>49</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Times New Roman MT Bold</vt:lpstr>
      <vt:lpstr>Calibri</vt:lpstr>
      <vt:lpstr>Times New Roman Bold</vt:lpstr>
      <vt:lpstr>Times New Roman MT Bold Italics</vt:lpstr>
      <vt:lpstr>Canva Sans Bold</vt:lpstr>
      <vt:lpstr>Times New Roman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BRIGHTLEARN Coffee Shop</dc:title>
  <cp:lastModifiedBy>Jerry Ragedi</cp:lastModifiedBy>
  <cp:revision>1</cp:revision>
  <dcterms:created xsi:type="dcterms:W3CDTF">2006-08-16T00:00:00Z</dcterms:created>
  <dcterms:modified xsi:type="dcterms:W3CDTF">2026-03-31T05:36:32Z</dcterms:modified>
  <dc:identifier>DAHFbW3L_Rw</dc:identifier>
</cp:coreProperties>
</file>